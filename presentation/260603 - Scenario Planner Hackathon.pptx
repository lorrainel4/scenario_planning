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5"/>
  </p:notesMasterIdLst>
  <p:sldIdLst>
    <p:sldId id="256" r:id="rId2"/>
    <p:sldId id="262" r:id="rId3"/>
    <p:sldId id="269" r:id="rId4"/>
    <p:sldId id="270" r:id="rId5"/>
    <p:sldId id="265" r:id="rId6"/>
    <p:sldId id="267" r:id="rId7"/>
    <p:sldId id="268" r:id="rId8"/>
    <p:sldId id="261" r:id="rId9"/>
    <p:sldId id="266" r:id="rId10"/>
    <p:sldId id="258" r:id="rId11"/>
    <p:sldId id="259" r:id="rId12"/>
    <p:sldId id="263" r:id="rId13"/>
    <p:sldId id="26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1F4C80"/>
    <a:srgbClr val="D32C2F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8" autoAdjust="0"/>
    <p:restoredTop sz="95852" autoAdjust="0"/>
  </p:normalViewPr>
  <p:slideViewPr>
    <p:cSldViewPr snapToGrid="0" snapToObjects="1">
      <p:cViewPr>
        <p:scale>
          <a:sx n="84" d="100"/>
          <a:sy n="84" d="100"/>
        </p:scale>
        <p:origin x="52" y="1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50" d="100"/>
          <a:sy n="50" d="100"/>
        </p:scale>
        <p:origin x="27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71900-9EDB-1247-B154-23EF27957FC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78CD8-10C9-E64B-BAD0-CE8F5AAA3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13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F2190-D651-4C7D-B2DE-C47DFF16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880F-D5D4-4FD7-948C-1D565F33219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PPT01-01.jpg">
            <a:extLst>
              <a:ext uri="{FF2B5EF4-FFF2-40B4-BE49-F238E27FC236}">
                <a16:creationId xmlns:a16="http://schemas.microsoft.com/office/drawing/2014/main" id="{7E5053CE-FD2A-4F1A-B794-7A9850503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360" y="0"/>
            <a:ext cx="4522641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5B048F5-2B14-437B-AAE2-E32F98778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07" y="1601299"/>
            <a:ext cx="7635252" cy="1938992"/>
          </a:xfrm>
        </p:spPr>
        <p:txBody>
          <a:bodyPr anchor="b">
            <a:spAutoFit/>
          </a:bodyPr>
          <a:lstStyle>
            <a:lvl1pPr>
              <a:defRPr sz="6000">
                <a:solidFill>
                  <a:srgbClr val="1F497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9EF7A13-3B1A-48B1-8B9C-214E1042C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207" y="3780757"/>
            <a:ext cx="7635252" cy="461665"/>
          </a:xfr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D32C2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AF36852-9ECB-4530-BFF0-5E7153EE416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20956" y="5061017"/>
            <a:ext cx="2793005" cy="338554"/>
          </a:xfrm>
        </p:spPr>
        <p:txBody>
          <a:bodyPr>
            <a:spAutoFit/>
          </a:bodyPr>
          <a:lstStyle>
            <a:lvl1pPr marL="0" indent="0" algn="l">
              <a:buNone/>
              <a:defRPr sz="1600">
                <a:solidFill>
                  <a:srgbClr val="D32C2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FA74979-6122-44F3-9CEE-5CEBF2577A2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620956" y="5587527"/>
            <a:ext cx="2793005" cy="338554"/>
          </a:xfrm>
        </p:spPr>
        <p:txBody>
          <a:bodyPr>
            <a:spAutoFit/>
          </a:bodyPr>
          <a:lstStyle>
            <a:lvl1pPr marL="0" indent="0" algn="l">
              <a:buNone/>
              <a:defRPr sz="16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Names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FA2A2-EE55-47AA-9DBA-2C618E17BB6B}"/>
              </a:ext>
            </a:extLst>
          </p:cNvPr>
          <p:cNvSpPr/>
          <p:nvPr userDrawn="1"/>
        </p:nvSpPr>
        <p:spPr>
          <a:xfrm>
            <a:off x="6620958" y="6545033"/>
            <a:ext cx="1909969" cy="188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100" dirty="0">
                <a:ln>
                  <a:noFill/>
                </a:ln>
                <a:solidFill>
                  <a:srgbClr val="D32C2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omniumCPG.com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C0B756-788F-45C6-8534-702D5F06C8E4}"/>
              </a:ext>
            </a:extLst>
          </p:cNvPr>
          <p:cNvSpPr/>
          <p:nvPr userDrawn="1"/>
        </p:nvSpPr>
        <p:spPr>
          <a:xfrm>
            <a:off x="382207" y="6548077"/>
            <a:ext cx="3708328" cy="188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7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Copyright ©, 2026 Omnium, LLC. All Rights Reserved</a:t>
            </a:r>
          </a:p>
        </p:txBody>
      </p:sp>
      <p:pic>
        <p:nvPicPr>
          <p:cNvPr id="2" name="Picture 1" descr="omnium_logo.png">
            <a:extLst>
              <a:ext uri="{FF2B5EF4-FFF2-40B4-BE49-F238E27FC236}">
                <a16:creationId xmlns:a16="http://schemas.microsoft.com/office/drawing/2014/main" id="{2307A2DD-290A-ACDD-B2C3-7456763C56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4" y="5292100"/>
            <a:ext cx="2083589" cy="131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78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PT02-01.jpg">
            <a:extLst>
              <a:ext uri="{FF2B5EF4-FFF2-40B4-BE49-F238E27FC236}">
                <a16:creationId xmlns:a16="http://schemas.microsoft.com/office/drawing/2014/main" id="{475D127C-9895-4850-9205-BB88F86DDA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6469504"/>
            <a:ext cx="12192000" cy="388496"/>
          </a:xfrm>
          <a:prstGeom prst="rect">
            <a:avLst/>
          </a:prstGeom>
        </p:spPr>
      </p:pic>
      <p:pic>
        <p:nvPicPr>
          <p:cNvPr id="7" name="Picture 6" descr="PPT02-01.jpg">
            <a:extLst>
              <a:ext uri="{FF2B5EF4-FFF2-40B4-BE49-F238E27FC236}">
                <a16:creationId xmlns:a16="http://schemas.microsoft.com/office/drawing/2014/main" id="{AF297CEF-0299-44A7-B77C-1CD3C8DB75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88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A5CD88-1F3A-4E3D-B0A5-820B0DD5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3455"/>
            <a:ext cx="10515600" cy="947173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497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BCA6B-E903-4A37-8769-B3E4E42F0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474"/>
            <a:ext cx="10515600" cy="481459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omnium_logo.png">
            <a:extLst>
              <a:ext uri="{FF2B5EF4-FFF2-40B4-BE49-F238E27FC236}">
                <a16:creationId xmlns:a16="http://schemas.microsoft.com/office/drawing/2014/main" id="{738E007E-8AF0-451E-88E7-C7F975B109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34" y="6469504"/>
            <a:ext cx="637482" cy="4017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6EB9A33-0A4A-4687-9A24-D90071655255}"/>
              </a:ext>
            </a:extLst>
          </p:cNvPr>
          <p:cNvSpPr/>
          <p:nvPr userDrawn="1"/>
        </p:nvSpPr>
        <p:spPr>
          <a:xfrm>
            <a:off x="8855184" y="6647974"/>
            <a:ext cx="2498616" cy="188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5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Copyright </a:t>
            </a:r>
            <a:r>
              <a:rPr lang="en-US" sz="500" dirty="0">
                <a:solidFill>
                  <a:schemeClr val="accent1"/>
                </a:solidFill>
              </a:rPr>
              <a:t>©</a:t>
            </a:r>
            <a:r>
              <a:rPr lang="en-US" sz="5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2026 Omnium, LLC. All Rights Reserved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D3DDA55-B209-47F7-8D55-D4A517B5549D}"/>
              </a:ext>
            </a:extLst>
          </p:cNvPr>
          <p:cNvSpPr txBox="1">
            <a:spLocks/>
          </p:cNvSpPr>
          <p:nvPr userDrawn="1"/>
        </p:nvSpPr>
        <p:spPr>
          <a:xfrm>
            <a:off x="2" y="6492878"/>
            <a:ext cx="546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88880F-D5D4-4FD7-948C-1D565F332195}" type="slidenum">
              <a:rPr lang="en-US" sz="1000" smtClean="0">
                <a:solidFill>
                  <a:schemeClr val="bg1"/>
                </a:solidFill>
              </a:rPr>
              <a:pPr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82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-01.jpg">
            <a:extLst>
              <a:ext uri="{FF2B5EF4-FFF2-40B4-BE49-F238E27FC236}">
                <a16:creationId xmlns:a16="http://schemas.microsoft.com/office/drawing/2014/main" id="{707C2EFE-33DB-4048-B432-CB190BC063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445"/>
          <a:stretch/>
        </p:blipFill>
        <p:spPr>
          <a:xfrm>
            <a:off x="1" y="0"/>
            <a:ext cx="16608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7B30CB-C4DB-4D24-A3AC-D5095142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241" y="968376"/>
            <a:ext cx="10033659" cy="2852737"/>
          </a:xfrm>
        </p:spPr>
        <p:txBody>
          <a:bodyPr anchor="b"/>
          <a:lstStyle>
            <a:lvl1pPr>
              <a:defRPr sz="6000">
                <a:solidFill>
                  <a:srgbClr val="1F497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6AE78-08D0-452B-AD45-E0F6A0AC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5241" y="4180455"/>
            <a:ext cx="1003365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13C6197-81C3-4F13-AE8E-979B4A4DF1AD}"/>
              </a:ext>
            </a:extLst>
          </p:cNvPr>
          <p:cNvSpPr txBox="1">
            <a:spLocks/>
          </p:cNvSpPr>
          <p:nvPr userDrawn="1"/>
        </p:nvSpPr>
        <p:spPr>
          <a:xfrm>
            <a:off x="2" y="6492878"/>
            <a:ext cx="546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688880F-D5D4-4FD7-948C-1D565F332195}" type="slidenum">
              <a:rPr lang="en-US" sz="1000" smtClean="0">
                <a:solidFill>
                  <a:schemeClr val="bg1"/>
                </a:solidFill>
              </a:rPr>
              <a:pPr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CB4DE1-EC01-4B3E-9ED9-1C30C75CC708}"/>
              </a:ext>
            </a:extLst>
          </p:cNvPr>
          <p:cNvSpPr/>
          <p:nvPr userDrawn="1"/>
        </p:nvSpPr>
        <p:spPr>
          <a:xfrm>
            <a:off x="8855184" y="6647974"/>
            <a:ext cx="2498616" cy="188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5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Copyright </a:t>
            </a:r>
            <a:r>
              <a:rPr lang="en-US" sz="500" dirty="0">
                <a:solidFill>
                  <a:schemeClr val="accent1"/>
                </a:solidFill>
              </a:rPr>
              <a:t>©</a:t>
            </a:r>
            <a:r>
              <a:rPr lang="en-US" sz="5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2026 Omnium, LLC. All Rights Reserved</a:t>
            </a:r>
          </a:p>
        </p:txBody>
      </p:sp>
      <p:pic>
        <p:nvPicPr>
          <p:cNvPr id="4" name="Picture 3" descr="omnium_logo.png">
            <a:extLst>
              <a:ext uri="{FF2B5EF4-FFF2-40B4-BE49-F238E27FC236}">
                <a16:creationId xmlns:a16="http://schemas.microsoft.com/office/drawing/2014/main" id="{7ABBA355-EA5B-4895-8F03-10E8855A42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6234" y="6469504"/>
            <a:ext cx="637482" cy="40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3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673DD-8AB9-4123-B065-2AD58172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7CFE0-0BF3-4752-AF3F-D39FC3D9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2AB91-A094-443C-82BC-54A51C0BD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880F-D5D4-4FD7-948C-1D565F332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4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643DD6-1FE4-C4FA-AF77-97D599CC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07" y="2524628"/>
            <a:ext cx="7635252" cy="1015663"/>
          </a:xfrm>
        </p:spPr>
        <p:txBody>
          <a:bodyPr/>
          <a:lstStyle/>
          <a:p>
            <a:r>
              <a:rPr lang="en-CA" dirty="0"/>
              <a:t>HACKATHON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25DE65-B581-8338-253C-1BCB8A2FD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Scenario Planner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683C5C-EB73-DF67-D78B-D1049A7421F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CA" dirty="0"/>
              <a:t>6/4/2026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31258A-FB08-39F8-C164-0CEEA3FE677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620956" y="5587527"/>
            <a:ext cx="2793005" cy="713016"/>
          </a:xfrm>
        </p:spPr>
        <p:txBody>
          <a:bodyPr/>
          <a:lstStyle/>
          <a:p>
            <a:r>
              <a:rPr lang="en-CA" dirty="0"/>
              <a:t>Lorraine Lin</a:t>
            </a:r>
          </a:p>
          <a:p>
            <a:r>
              <a:rPr lang="en-CA" dirty="0"/>
              <a:t>Evan Haithcock</a:t>
            </a:r>
          </a:p>
        </p:txBody>
      </p:sp>
    </p:spTree>
    <p:extLst>
      <p:ext uri="{BB962C8B-B14F-4D97-AF65-F5344CB8AC3E}">
        <p14:creationId xmlns:p14="http://schemas.microsoft.com/office/powerpoint/2010/main" val="2215205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941F7-7432-6754-BE66-6984382D1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3455"/>
            <a:ext cx="10515600" cy="1544885"/>
          </a:xfrm>
        </p:spPr>
        <p:txBody>
          <a:bodyPr>
            <a:noAutofit/>
          </a:bodyPr>
          <a:lstStyle/>
          <a:p>
            <a:r>
              <a:rPr lang="en-US" sz="2800" i="1" dirty="0"/>
              <a:t>“Let’s do a scenario if they take the extra distribution, one if they don’t, a third for if we go EDLP, and then another if we get approval to fund deeper events...” </a:t>
            </a:r>
            <a:r>
              <a:rPr lang="en-US" sz="2800" dirty="0"/>
              <a:t>🫩🫩🫩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ACAE-7B0B-0F72-A400-8AC68D54E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340"/>
            <a:ext cx="10515600" cy="433273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Today, doing TRUE scenario planning in the DAP is PAINFUL!</a:t>
            </a:r>
          </a:p>
          <a:p>
            <a:pPr>
              <a:lnSpc>
                <a:spcPct val="120000"/>
              </a:lnSpc>
            </a:pPr>
            <a:r>
              <a:rPr lang="en-US" dirty="0"/>
              <a:t>At best, we end up making multiple DAPs so we can compare Scenario A, B, C. </a:t>
            </a:r>
          </a:p>
          <a:p>
            <a:pPr>
              <a:lnSpc>
                <a:spcPct val="120000"/>
              </a:lnSpc>
            </a:pPr>
            <a:r>
              <a:rPr lang="en-US" dirty="0"/>
              <a:t>If you need to make an edit across multiple files, don’t get distracted lest you miss an edit.</a:t>
            </a:r>
          </a:p>
          <a:p>
            <a:pPr>
              <a:lnSpc>
                <a:spcPct val="120000"/>
              </a:lnSpc>
            </a:pPr>
            <a:r>
              <a:rPr lang="en-US" dirty="0"/>
              <a:t>Do you want to apply a promo plan from one scenario to another? Buckle up because you have a LOT of copy/pastes incoming.</a:t>
            </a:r>
          </a:p>
          <a:p>
            <a:pPr>
              <a:lnSpc>
                <a:spcPct val="120000"/>
              </a:lnSpc>
            </a:pPr>
            <a:r>
              <a:rPr lang="en-US" dirty="0"/>
              <a:t>Need to compare them? Fast way is copy/paste as value, slow way is writing a slew of lookups that hit different files – don’t forget to double-check those links!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We NEED a better way to do this crucial step in the planning process…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0FF023-72B0-44D3-D4CA-573179E4FE8F}"/>
              </a:ext>
            </a:extLst>
          </p:cNvPr>
          <p:cNvSpPr txBox="1">
            <a:spLocks/>
          </p:cNvSpPr>
          <p:nvPr/>
        </p:nvSpPr>
        <p:spPr>
          <a:xfrm>
            <a:off x="678180" y="5501640"/>
            <a:ext cx="10515600" cy="7894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kern="1200">
                <a:solidFill>
                  <a:srgbClr val="1F497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0734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1D75-C7F0-9747-C2F1-A9A74F64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the Scenario Planner!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6BECE-FEAC-D68A-CD3E-5E1B64F10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 in a DAP, play with inputs, create scenarios, make updates, and see comparisons.</a:t>
            </a:r>
          </a:p>
          <a:p>
            <a:endParaRPr lang="en-US" dirty="0"/>
          </a:p>
          <a:p>
            <a:r>
              <a:rPr lang="en-US" dirty="0"/>
              <a:t>When you are happy, write to a DAP, several DAPs, or a .scenario file to send to your friends.</a:t>
            </a:r>
          </a:p>
          <a:p>
            <a:endParaRPr lang="en-US" dirty="0"/>
          </a:p>
          <a:p>
            <a:r>
              <a:rPr lang="en-US" dirty="0"/>
              <a:t>Let’s go see how much fun scenario planning can be!</a:t>
            </a:r>
          </a:p>
        </p:txBody>
      </p:sp>
    </p:spTree>
    <p:extLst>
      <p:ext uri="{BB962C8B-B14F-4D97-AF65-F5344CB8AC3E}">
        <p14:creationId xmlns:p14="http://schemas.microsoft.com/office/powerpoint/2010/main" val="252809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54046-97D1-0F52-B2A7-A110B5AC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782F2-35BF-B712-A615-CA6CC8DD1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8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8ED9-53F7-CC56-A867-9C6F6EA7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" y="360115"/>
            <a:ext cx="11689080" cy="947173"/>
          </a:xfrm>
        </p:spPr>
        <p:txBody>
          <a:bodyPr>
            <a:noAutofit/>
          </a:bodyPr>
          <a:lstStyle/>
          <a:p>
            <a:r>
              <a:rPr lang="en-US" sz="2400" dirty="0"/>
              <a:t>Replaces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annoying, time-consuming, error-prone manual work </a:t>
            </a:r>
            <a:r>
              <a:rPr lang="en-US" sz="2400" dirty="0"/>
              <a:t>with a </a:t>
            </a:r>
            <a:r>
              <a:rPr lang="en-US" sz="2400" dirty="0">
                <a:solidFill>
                  <a:schemeClr val="accent6"/>
                </a:solidFill>
              </a:rPr>
              <a:t>Simple, Easy, Portable Interface</a:t>
            </a:r>
            <a:r>
              <a:rPr lang="en-US" sz="2400" dirty="0"/>
              <a:t> to rework DAPs and make Scenario Plans!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512F1A-2E27-9E55-6C6F-C05454D3A3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464074"/>
              </p:ext>
            </p:extLst>
          </p:nvPr>
        </p:nvGraphicFramePr>
        <p:xfrm>
          <a:off x="281940" y="1344294"/>
          <a:ext cx="11689080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360">
                  <a:extLst>
                    <a:ext uri="{9D8B030D-6E8A-4147-A177-3AD203B41FA5}">
                      <a16:colId xmlns:a16="http://schemas.microsoft.com/office/drawing/2014/main" val="2356528144"/>
                    </a:ext>
                  </a:extLst>
                </a:gridCol>
                <a:gridCol w="3896360">
                  <a:extLst>
                    <a:ext uri="{9D8B030D-6E8A-4147-A177-3AD203B41FA5}">
                      <a16:colId xmlns:a16="http://schemas.microsoft.com/office/drawing/2014/main" val="3016345952"/>
                    </a:ext>
                  </a:extLst>
                </a:gridCol>
                <a:gridCol w="3896360">
                  <a:extLst>
                    <a:ext uri="{9D8B030D-6E8A-4147-A177-3AD203B41FA5}">
                      <a16:colId xmlns:a16="http://schemas.microsoft.com/office/drawing/2014/main" val="3396526784"/>
                    </a:ext>
                  </a:extLst>
                </a:gridCol>
              </a:tblGrid>
              <a:tr h="36835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OLD: DAPs in a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NEW: Scenario Planner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819384"/>
                  </a:ext>
                </a:extLst>
              </a:tr>
              <a:tr h="850038">
                <a:tc>
                  <a:txBody>
                    <a:bodyPr/>
                    <a:lstStyle/>
                    <a:p>
                      <a:r>
                        <a:rPr lang="en-US" b="1" dirty="0"/>
                        <a:t>Building New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Manual - prone to errors, and requires managing a bunch of files.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Simple! With a click of a button you can make a new scenario from an edit of an existing scenario.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59953"/>
                  </a:ext>
                </a:extLst>
              </a:tr>
              <a:tr h="595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 Multiple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Manual - copy/paste or linking files to a central comparison file.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✅ Easy! Side-by-side of scenarios with key P&amp;L lines.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626009"/>
                  </a:ext>
                </a:extLst>
              </a:tr>
              <a:tr h="850038">
                <a:tc>
                  <a:txBody>
                    <a:bodyPr/>
                    <a:lstStyle/>
                    <a:p>
                      <a:r>
                        <a:rPr lang="en-US" b="1" dirty="0"/>
                        <a:t>Batch Update Multiple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Manual - go into each file and make the same change. Pray you made the same changes.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Confidently! Edit the partial plan and it percolates to all scenarios that use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62630"/>
                  </a:ext>
                </a:extLst>
              </a:tr>
              <a:tr h="850038">
                <a:tc>
                  <a:txBody>
                    <a:bodyPr/>
                    <a:lstStyle/>
                    <a:p>
                      <a:r>
                        <a:rPr lang="en-US" b="1" dirty="0"/>
                        <a:t>Hot-Swap Parts of the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Manual - copy/paste between files that all look the same and have almost the same name.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Portable! Just open your scenario, flip the partial plan, and it’s done!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560437"/>
                  </a:ext>
                </a:extLst>
              </a:tr>
              <a:tr h="595027">
                <a:tc>
                  <a:txBody>
                    <a:bodyPr/>
                    <a:lstStyle/>
                    <a:p>
                      <a:r>
                        <a:rPr lang="en-US" b="1" dirty="0"/>
                        <a:t>See Summary of Scenario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Manual - remember what you did and write notes.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Turnkey! Your names partial plans tell you what’s in and out.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758201"/>
                  </a:ext>
                </a:extLst>
              </a:tr>
              <a:tr h="344738">
                <a:tc>
                  <a:txBody>
                    <a:bodyPr/>
                    <a:lstStyle/>
                    <a:p>
                      <a:r>
                        <a:rPr lang="en-US" b="1" dirty="0"/>
                        <a:t>File I/O &amp; Storage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Manual – and you need to remember where you saved that DAP.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 Drag and Drop, one click to output into different formats.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807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556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B95B-E586-F430-573C-8B896388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FAQ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96FFF-AC06-ED9E-B982-36C37DB9D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7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8F3E7-1DCD-E16B-F0DA-6C2908F9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DD242-48DB-68E3-4F70-46AF2BB30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4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64A3B-8B0B-4DDE-DB2E-98EE2F64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Presentation &amp; Clarity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B51A3-AD47-6CE4-3851-EB35EBD02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 explanation of the </a:t>
            </a:r>
            <a:r>
              <a:rPr lang="en-US" b="1" dirty="0"/>
              <a:t>problem</a:t>
            </a:r>
            <a:r>
              <a:rPr lang="en-US" dirty="0"/>
              <a:t>, the solution, and how it works. The demo flows naturally. The audience doesn't have to connect dots on their own.</a:t>
            </a:r>
          </a:p>
        </p:txBody>
      </p:sp>
    </p:spTree>
    <p:extLst>
      <p:ext uri="{BB962C8B-B14F-4D97-AF65-F5344CB8AC3E}">
        <p14:creationId xmlns:p14="http://schemas.microsoft.com/office/powerpoint/2010/main" val="1010700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1075-E59D-13D4-7396-887CABE73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Presentation and Clarity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654F0-32BF-38FC-A248-49DE3D723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  <a:p>
            <a:r>
              <a:rPr lang="en-US" dirty="0"/>
              <a:t>The Solution</a:t>
            </a:r>
          </a:p>
          <a:p>
            <a:r>
              <a:rPr lang="en-US" dirty="0"/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1762752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9127-CA9F-A5FB-2DA8-27DF73C2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CPG Problem Fit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EED73-8D67-3370-FC8E-932134AB6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Addresses a specific, recognizable pain point in CPG work. The problem is clearly articulated and the team demonstrates they understand the domain. You can immediately imagine needing this.</a:t>
            </a:r>
          </a:p>
        </p:txBody>
      </p:sp>
    </p:spTree>
    <p:extLst>
      <p:ext uri="{BB962C8B-B14F-4D97-AF65-F5344CB8AC3E}">
        <p14:creationId xmlns:p14="http://schemas.microsoft.com/office/powerpoint/2010/main" val="164360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EB3F-0A58-C22A-AB01-4749B5095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Technical Execution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6298D-6A77-29A4-6394-FAE47D5C6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Fully functional demo with no significant failures. The core use case works end-to-end. Code or configuration is clean enough that a teammate could pick it up.</a:t>
            </a:r>
          </a:p>
        </p:txBody>
      </p:sp>
    </p:spTree>
    <p:extLst>
      <p:ext uri="{BB962C8B-B14F-4D97-AF65-F5344CB8AC3E}">
        <p14:creationId xmlns:p14="http://schemas.microsoft.com/office/powerpoint/2010/main" val="3538221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039A-1EE3-6BB9-9B65-8CE9EE66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Technical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B2DA-FB9B-527B-3393-269F114DB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Business Value:</a:t>
            </a:r>
          </a:p>
          <a:p>
            <a:pPr lvl="1"/>
            <a:r>
              <a:rPr lang="en-US" dirty="0"/>
              <a:t>(Obvious, immediate Value, can give to client or teammate today)</a:t>
            </a:r>
          </a:p>
          <a:p>
            <a:pPr lvl="1"/>
            <a:r>
              <a:rPr lang="en-US" dirty="0"/>
              <a:t>Drag and Drop a DAP to load in the info</a:t>
            </a:r>
          </a:p>
          <a:p>
            <a:pPr lvl="1"/>
            <a:endParaRPr lang="en-US" dirty="0"/>
          </a:p>
          <a:p>
            <a:r>
              <a:rPr lang="en-US" dirty="0"/>
              <a:t>Works end-to-end</a:t>
            </a:r>
          </a:p>
          <a:p>
            <a:r>
              <a:rPr lang="en-US" dirty="0"/>
              <a:t>Code and config is clean enough that teammate can pick it up</a:t>
            </a:r>
          </a:p>
          <a:p>
            <a:pPr lvl="1"/>
            <a:r>
              <a:rPr lang="en-US" dirty="0"/>
              <a:t>Works for COR today!</a:t>
            </a:r>
          </a:p>
          <a:p>
            <a:pPr lvl="1"/>
            <a:r>
              <a:rPr lang="en-US" dirty="0"/>
              <a:t>Making for </a:t>
            </a:r>
            <a:r>
              <a:rPr lang="en-US" dirty="0" err="1"/>
              <a:t>for</a:t>
            </a:r>
            <a:r>
              <a:rPr lang="en-US" dirty="0"/>
              <a:t> custom DAPs just requires adding some new linkage, maybe some new configs</a:t>
            </a:r>
          </a:p>
          <a:p>
            <a:pPr lvl="2"/>
            <a:r>
              <a:rPr lang="en-US" dirty="0"/>
              <a:t>WE DO THIS TODAY FOR PDT WORKFLOW AND IT’S NO BIG DEAL</a:t>
            </a:r>
          </a:p>
        </p:txBody>
      </p:sp>
    </p:spTree>
    <p:extLst>
      <p:ext uri="{BB962C8B-B14F-4D97-AF65-F5344CB8AC3E}">
        <p14:creationId xmlns:p14="http://schemas.microsoft.com/office/powerpoint/2010/main" val="1567961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8DF1-A797-63B2-2BAF-4777D3CE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Business Impact / Usability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005E-0C3F-FF9D-A6E0-0DC11354B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Obvious, immediate value. You could hand this to a teammate or put it in front of a client today. The time savings or quality improvement is concrete and significant.</a:t>
            </a:r>
          </a:p>
        </p:txBody>
      </p:sp>
    </p:spTree>
    <p:extLst>
      <p:ext uri="{BB962C8B-B14F-4D97-AF65-F5344CB8AC3E}">
        <p14:creationId xmlns:p14="http://schemas.microsoft.com/office/powerpoint/2010/main" val="156854804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6093"/>
      </a:accent1>
      <a:accent2>
        <a:srgbClr val="FC423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2785</TotalTime>
  <Words>723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Tahoma</vt:lpstr>
      <vt:lpstr>Custom Design</vt:lpstr>
      <vt:lpstr>HACKATHON</vt:lpstr>
      <vt:lpstr>“Let’s do a scenario if they take the extra distribution, one if they don’t, a third for if we go EDLP, and then another if we get approval to fund deeper events...” 🫩🫩🫩</vt:lpstr>
      <vt:lpstr>Introducing the Scenario Planner!</vt:lpstr>
      <vt:lpstr>DEMO!</vt:lpstr>
      <vt:lpstr>Replaces annoying, time-consuming, error-prone manual work with a Simple, Easy, Portable Interface to rework DAPs and make Scenario Plans!</vt:lpstr>
      <vt:lpstr>FAQ</vt:lpstr>
      <vt:lpstr>FAQ</vt:lpstr>
      <vt:lpstr>4. Presentation &amp; Clarity</vt:lpstr>
      <vt:lpstr>4. Presentation and Clarity</vt:lpstr>
      <vt:lpstr>1. CPG Problem Fit</vt:lpstr>
      <vt:lpstr>2. Technical Execution</vt:lpstr>
      <vt:lpstr>2. Technical Execution</vt:lpstr>
      <vt:lpstr>3. Business Impact / Usability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Omnium Template Widescreen</dc:title>
  <dc:creator>Johnny Valeriote</dc:creator>
  <cp:lastModifiedBy>Colin Davidson</cp:lastModifiedBy>
  <cp:revision>117</cp:revision>
  <dcterms:created xsi:type="dcterms:W3CDTF">2020-07-30T16:11:28Z</dcterms:created>
  <dcterms:modified xsi:type="dcterms:W3CDTF">2026-06-04T04:53:53Z</dcterms:modified>
</cp:coreProperties>
</file>